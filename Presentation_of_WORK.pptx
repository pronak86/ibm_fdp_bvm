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ghOvm2EZ50R9dUsIjQzxxGQymf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DA409A-753F-43E9-88D9-1875949E996A}">
  <a:tblStyle styleId="{72DA409A-753F-43E9-88D9-1875949E996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72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81215430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7668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7010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6322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5516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9243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8877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3344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4552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5125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3241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87393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228170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34409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6892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0059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4166530421"/>
              </p:ext>
            </p:extLst>
          </p:nvPr>
        </p:nvGraphicFramePr>
        <p:xfrm>
          <a:off x="1299257" y="2600315"/>
          <a:ext cx="9395000" cy="2167125"/>
        </p:xfrm>
        <a:graphic>
          <a:graphicData uri="http://schemas.openxmlformats.org/drawingml/2006/table">
            <a:tbl>
              <a:tblPr>
                <a:noFill/>
                <a:tableStyleId>{72DA409A-753F-43E9-88D9-1875949E996A}</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Ronak Patel</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err="1"/>
                        <a:t>ronakrpatel.ce@charusat.ac.in</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9409330900</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Domain of  Project – </a:t>
            </a:r>
            <a:r>
              <a:rPr lang="en-US" sz="2400" b="1" i="0" u="none" strike="noStrike" cap="none">
                <a:solidFill>
                  <a:srgbClr val="000000"/>
                </a:solidFill>
                <a:highlight>
                  <a:srgbClr val="FFFF00"/>
                </a:highlight>
                <a:latin typeface="Arial"/>
                <a:ea typeface="Arial"/>
                <a:cs typeface="Arial"/>
                <a:sym typeface="Arial"/>
              </a:rPr>
              <a:t>[ like Agriculture / Education / Healthcare / … ]</a:t>
            </a:r>
            <a:endParaRPr sz="2400" b="1" i="0" u="none" strike="noStrike" cap="none">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Project Tile – </a:t>
            </a:r>
            <a:r>
              <a:rPr lang="en-US" sz="2400" b="1" i="0" u="none" strike="noStrike" cap="none">
                <a:solidFill>
                  <a:srgbClr val="000000"/>
                </a:solidFill>
                <a:highlight>
                  <a:srgbClr val="FFFF00"/>
                </a:highlight>
                <a:latin typeface="Arial"/>
                <a:ea typeface="Arial"/>
                <a:cs typeface="Arial"/>
                <a:sym typeface="Arial"/>
              </a:rPr>
              <a:t>[</a:t>
            </a:r>
            <a:r>
              <a:rPr lang="en-US" sz="2400" b="1" i="0" u="none" strike="noStrike" cap="none">
                <a:solidFill>
                  <a:srgbClr val="002060"/>
                </a:solidFill>
                <a:highlight>
                  <a:srgbClr val="FFFF00"/>
                </a:highlight>
                <a:latin typeface="Times New Roman"/>
                <a:ea typeface="Times New Roman"/>
                <a:cs typeface="Times New Roman"/>
                <a:sym typeface="Times New Roman"/>
              </a:rPr>
              <a:t>Write your project title here</a:t>
            </a:r>
            <a:r>
              <a:rPr lang="en-US" sz="2400" b="1" i="0" u="none" strike="noStrike" cap="none">
                <a:solidFill>
                  <a:srgbClr val="000000"/>
                </a:solidFill>
                <a:highlight>
                  <a:srgbClr val="FFFF00"/>
                </a:highlight>
                <a:latin typeface="Arial"/>
                <a:ea typeface="Arial"/>
                <a:cs typeface="Arial"/>
                <a:sym typeface="Arial"/>
              </a:rPr>
              <a:t>]</a:t>
            </a:r>
            <a:endParaRPr sz="2400" b="1" i="0" u="none" strike="noStrike" cap="none">
              <a:solidFill>
                <a:srgbClr val="000000"/>
              </a:solidFill>
              <a:highlight>
                <a:srgbClr val="FFFF00"/>
              </a:highlight>
              <a:latin typeface="Arial"/>
              <a:ea typeface="Arial"/>
              <a:cs typeface="Arial"/>
              <a:sym typeface="Arial"/>
            </a:endParaRPr>
          </a:p>
        </p:txBody>
      </p:sp>
      <p:pic>
        <p:nvPicPr>
          <p:cNvPr id="4" name="Picture 3">
            <a:extLst>
              <a:ext uri="{FF2B5EF4-FFF2-40B4-BE49-F238E27FC236}">
                <a16:creationId xmlns:a16="http://schemas.microsoft.com/office/drawing/2014/main" id="{A18B8D16-C50D-4E89-8F78-7FF9A1F72566}"/>
              </a:ext>
            </a:extLst>
          </p:cNvPr>
          <p:cNvPicPr>
            <a:picLocks noChangeAspect="1"/>
          </p:cNvPicPr>
          <p:nvPr/>
        </p:nvPicPr>
        <p:blipFill>
          <a:blip r:embed="rId3"/>
          <a:stretch>
            <a:fillRect/>
          </a:stretch>
        </p:blipFill>
        <p:spPr>
          <a:xfrm>
            <a:off x="3995838" y="3683877"/>
            <a:ext cx="1033389" cy="10333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638825" y="1165753"/>
            <a:ext cx="10607040" cy="41857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Problem Statement Research Agent</a:t>
            </a:r>
            <a:r>
              <a:rPr lang="en-US" sz="1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p>
          <a:p>
            <a:pPr lvl="0" defTabSz="1211263"/>
            <a:r>
              <a:rPr lang="en-IN" dirty="0"/>
              <a:t>Researchers, students, and professionals often deal with scattered academic papers, technical articles, and experimental data spread across multiple platforms. Filtering relevant knowledge, summarizing insights, and keeping track of the latest developments is time-consuming and inefficient. The challenge is not just to collect references but to synthesize, </a:t>
            </a:r>
            <a:r>
              <a:rPr lang="en-IN" dirty="0" err="1"/>
              <a:t>analyze</a:t>
            </a:r>
            <a:r>
              <a:rPr lang="en-IN" dirty="0"/>
              <a:t>, and</a:t>
            </a:r>
          </a:p>
          <a:p>
            <a:pPr lvl="0"/>
            <a:r>
              <a:rPr lang="en-IN" dirty="0"/>
              <a:t>generate actionable research insights in real time.</a:t>
            </a:r>
            <a:endParaRPr dirty="0"/>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Objective</a:t>
            </a:r>
            <a:r>
              <a:rPr lang="en-US" sz="1400" b="0" i="0" u="none" strike="noStrike" cap="none" dirty="0">
                <a:solidFill>
                  <a:srgbClr val="000000"/>
                </a:solidFill>
                <a:latin typeface="Arial"/>
                <a:ea typeface="Arial"/>
                <a:cs typeface="Arial"/>
                <a:sym typeface="Arial"/>
              </a:rPr>
              <a:t> </a:t>
            </a:r>
            <a:endParaRPr dirty="0"/>
          </a:p>
          <a:p>
            <a:pPr lvl="0"/>
            <a:r>
              <a:rPr lang="en-IN" dirty="0"/>
              <a:t>Build an </a:t>
            </a:r>
            <a:r>
              <a:rPr lang="en-IN" dirty="0" err="1"/>
              <a:t>agentic</a:t>
            </a:r>
            <a:r>
              <a:rPr lang="en-IN" dirty="0"/>
              <a:t> AI application that acts as an intelligent research companion. The solution</a:t>
            </a:r>
          </a:p>
          <a:p>
            <a:pPr lvl="0"/>
            <a:r>
              <a:rPr lang="en-IN" dirty="0"/>
              <a:t>should:</a:t>
            </a:r>
          </a:p>
          <a:p>
            <a:pPr lvl="0"/>
            <a:r>
              <a:rPr lang="en-IN" dirty="0"/>
              <a:t>1. Fuse Academic Sources: Aggregate data from research papers, journals, preprints, and</a:t>
            </a:r>
          </a:p>
          <a:p>
            <a:pPr lvl="0"/>
            <a:r>
              <a:rPr lang="en-IN" dirty="0"/>
              <a:t>knowledge repositories, then synthesize them into clear, concise literature reviews.</a:t>
            </a:r>
          </a:p>
          <a:p>
            <a:pPr lvl="0"/>
            <a:r>
              <a:rPr lang="en-IN" dirty="0"/>
              <a:t>2. Enable Multimodal Research Input: Accept user queries, notes, charts, or even PDFs, and</a:t>
            </a:r>
          </a:p>
          <a:p>
            <a:pPr lvl="0"/>
            <a:r>
              <a:rPr lang="en-IN" dirty="0"/>
              <a:t>convert them into structured insights, references, and summaries.</a:t>
            </a:r>
          </a:p>
          <a:p>
            <a:pPr lvl="0"/>
            <a:r>
              <a:rPr lang="en-IN" dirty="0"/>
              <a:t>3. Create a Predictive &amp; Agentic Layer: Highlight emerging trends, detect citation gaps, and</a:t>
            </a:r>
          </a:p>
          <a:p>
            <a:pPr lvl="0"/>
            <a:r>
              <a:rPr lang="en-IN" dirty="0"/>
              <a:t>predict promising directions for future research in a given domain.</a:t>
            </a:r>
          </a:p>
          <a:p>
            <a:pPr lvl="0"/>
            <a:r>
              <a:rPr lang="en-IN" dirty="0"/>
              <a:t>4. Visualize Research Insights: Provide an interactive dashboard with topic clusters, citation</a:t>
            </a:r>
          </a:p>
          <a:p>
            <a:pPr lvl="0"/>
            <a:r>
              <a:rPr lang="en-IN" dirty="0"/>
              <a:t>maps, sentiment/trend analysis, and concise knowledge graphs.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5" name="Google Shape;95;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667497" y="1165750"/>
            <a:ext cx="12919800" cy="5602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36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1" i="0" u="none" strike="noStrike" cap="none">
                <a:solidFill>
                  <a:srgbClr val="000000"/>
                </a:solidFill>
                <a:latin typeface="Arial"/>
                <a:ea typeface="Arial"/>
                <a:cs typeface="Arial"/>
                <a:sym typeface="Arial"/>
              </a:rPr>
              <a:t>Tech Stack (Mandatory)</a:t>
            </a:r>
            <a:r>
              <a:rPr lang="en-US" sz="3600" b="0" i="0" u="none" strike="noStrike" cap="none">
                <a:solidFill>
                  <a:srgbClr val="000000"/>
                </a:solidFill>
                <a:latin typeface="Arial"/>
                <a:ea typeface="Arial"/>
                <a:cs typeface="Arial"/>
                <a:sym typeface="Arial"/>
              </a:rPr>
              <a:t> </a:t>
            </a:r>
            <a:endParaRPr sz="3600"/>
          </a:p>
          <a:p>
            <a:pPr marL="0" marR="0" lvl="0" indent="0" algn="l" rtl="0">
              <a:lnSpc>
                <a:spcPct val="100000"/>
              </a:lnSpc>
              <a:spcBef>
                <a:spcPts val="0"/>
              </a:spcBef>
              <a:spcAft>
                <a:spcPts val="0"/>
              </a:spcAft>
              <a:buNone/>
            </a:pPr>
            <a:r>
              <a:rPr lang="en-US" sz="3600" b="0" i="0" u="none" strike="noStrike" cap="none">
                <a:solidFill>
                  <a:srgbClr val="000000"/>
                </a:solidFill>
                <a:latin typeface="Arial"/>
                <a:ea typeface="Arial"/>
                <a:cs typeface="Arial"/>
                <a:sym typeface="Arial"/>
              </a:rPr>
              <a:t>Use </a:t>
            </a:r>
            <a:r>
              <a:rPr lang="en-US" sz="3600" b="1" i="0" u="none" strike="noStrike" cap="none">
                <a:solidFill>
                  <a:srgbClr val="000000"/>
                </a:solidFill>
                <a:latin typeface="Arial"/>
                <a:ea typeface="Arial"/>
                <a:cs typeface="Arial"/>
                <a:sym typeface="Arial"/>
              </a:rPr>
              <a:t>any one</a:t>
            </a:r>
            <a:r>
              <a:rPr lang="en-US" sz="3600" b="0" i="0" u="none" strike="noStrike" cap="none">
                <a:solidFill>
                  <a:srgbClr val="000000"/>
                </a:solidFill>
                <a:latin typeface="Arial"/>
                <a:ea typeface="Arial"/>
                <a:cs typeface="Arial"/>
                <a:sym typeface="Arial"/>
              </a:rPr>
              <a:t> of the following approaches: </a:t>
            </a:r>
            <a:endParaRPr sz="3600"/>
          </a:p>
          <a:p>
            <a:pPr marL="285750" marR="0" lvl="0" indent="-425450" algn="l" rtl="0">
              <a:lnSpc>
                <a:spcPct val="100000"/>
              </a:lnSpc>
              <a:spcBef>
                <a:spcPts val="0"/>
              </a:spcBef>
              <a:spcAft>
                <a:spcPts val="0"/>
              </a:spcAft>
              <a:buClr>
                <a:srgbClr val="000000"/>
              </a:buClr>
              <a:buSzPts val="3600"/>
              <a:buFont typeface="Arial"/>
              <a:buChar char="•"/>
            </a:pPr>
            <a:r>
              <a:rPr lang="en-US" sz="3600" b="0" i="0" u="none" strike="noStrike" cap="none">
                <a:solidFill>
                  <a:srgbClr val="000000"/>
                </a:solidFill>
                <a:latin typeface="Arial"/>
                <a:ea typeface="Arial"/>
                <a:cs typeface="Arial"/>
                <a:sym typeface="Arial"/>
              </a:rPr>
              <a:t>LangFlow + IBM watsonx.ai + Granite Models </a:t>
            </a:r>
            <a:endParaRPr sz="3600"/>
          </a:p>
          <a:p>
            <a:pPr marL="285750" marR="0" lvl="0" indent="-425450" algn="l" rtl="0">
              <a:lnSpc>
                <a:spcPct val="100000"/>
              </a:lnSpc>
              <a:spcBef>
                <a:spcPts val="0"/>
              </a:spcBef>
              <a:spcAft>
                <a:spcPts val="0"/>
              </a:spcAft>
              <a:buClr>
                <a:srgbClr val="000000"/>
              </a:buClr>
              <a:buSzPts val="3600"/>
              <a:buFont typeface="Arial"/>
              <a:buChar char="•"/>
            </a:pPr>
            <a:r>
              <a:rPr lang="en-US" sz="3600" b="0" i="0" u="none" strike="noStrike" cap="none">
                <a:solidFill>
                  <a:srgbClr val="000000"/>
                </a:solidFill>
                <a:latin typeface="Arial"/>
                <a:ea typeface="Arial"/>
                <a:cs typeface="Arial"/>
                <a:sym typeface="Arial"/>
              </a:rPr>
              <a:t>IBM Cloud Agentic Lab with IBM Granite Models </a:t>
            </a:r>
            <a:endParaRPr sz="3600"/>
          </a:p>
          <a:p>
            <a:pPr marL="285750" marR="0" lvl="0" indent="-425450" algn="l" rtl="0">
              <a:lnSpc>
                <a:spcPct val="100000"/>
              </a:lnSpc>
              <a:spcBef>
                <a:spcPts val="0"/>
              </a:spcBef>
              <a:spcAft>
                <a:spcPts val="0"/>
              </a:spcAft>
              <a:buClr>
                <a:srgbClr val="000000"/>
              </a:buClr>
              <a:buSzPts val="3600"/>
              <a:buFont typeface="Arial"/>
              <a:buChar char="•"/>
            </a:pPr>
            <a:r>
              <a:rPr lang="en-US" sz="3600" b="0" i="0" u="none" strike="noStrike" cap="none">
                <a:solidFill>
                  <a:srgbClr val="000000"/>
                </a:solidFill>
                <a:latin typeface="Arial"/>
                <a:ea typeface="Arial"/>
                <a:cs typeface="Arial"/>
                <a:sym typeface="Arial"/>
              </a:rPr>
              <a:t>Replicate with LangChain + RAG + IBM Granite Models</a:t>
            </a:r>
            <a:endParaRPr sz="3600"/>
          </a:p>
          <a:p>
            <a:pPr marL="285750" marR="0" lvl="0" indent="-196850" algn="l" rtl="0">
              <a:lnSpc>
                <a:spcPct val="100000"/>
              </a:lnSpc>
              <a:spcBef>
                <a:spcPts val="0"/>
              </a:spcBef>
              <a:spcAft>
                <a:spcPts val="0"/>
              </a:spcAft>
              <a:buClr>
                <a:srgbClr val="000000"/>
              </a:buClr>
              <a:buSzPts val="1400"/>
              <a:buFont typeface="Arial"/>
              <a:buNone/>
            </a:pPr>
            <a:endParaRPr sz="3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0" i="0" u="none" strike="noStrike" cap="none">
                <a:solidFill>
                  <a:srgbClr val="000000"/>
                </a:solidFill>
                <a:latin typeface="Arial"/>
                <a:ea typeface="Arial"/>
                <a:cs typeface="Arial"/>
                <a:sym typeface="Arial"/>
              </a:rPr>
              <a:t>I used </a:t>
            </a:r>
            <a:r>
              <a:rPr lang="en-US" sz="3600" b="0" i="0" u="none" strike="noStrike" cap="none">
                <a:solidFill>
                  <a:srgbClr val="000000"/>
                </a:solidFill>
                <a:highlight>
                  <a:srgbClr val="FFFF00"/>
                </a:highlight>
                <a:latin typeface="Arial"/>
                <a:ea typeface="Arial"/>
                <a:cs typeface="Arial"/>
                <a:sym typeface="Arial"/>
              </a:rPr>
              <a:t>LangFlow + IBM watsonx.ai + Granite Models </a:t>
            </a:r>
            <a:endParaRPr sz="3600"/>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701577" y="1165753"/>
            <a:ext cx="10607040" cy="289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Proposed Solution: Research Agent</a:t>
            </a:r>
            <a:endParaRPr dirty="0"/>
          </a:p>
          <a:p>
            <a:pPr marL="0" marR="0" lvl="0" indent="0" algn="l" rtl="0">
              <a:lnSpc>
                <a:spcPct val="100000"/>
              </a:lnSpc>
              <a:spcBef>
                <a:spcPts val="0"/>
              </a:spcBef>
              <a:spcAft>
                <a:spcPts val="0"/>
              </a:spcAft>
              <a:buNone/>
            </a:pPr>
            <a:endParaRPr lang="en-US" sz="1400" b="0" i="0" u="none" strike="noStrike" cap="none" dirty="0">
              <a:solidFill>
                <a:srgbClr val="000000"/>
              </a:solidFill>
              <a:latin typeface="Arial"/>
              <a:ea typeface="Arial"/>
              <a:cs typeface="Arial"/>
              <a:sym typeface="Arial"/>
            </a:endParaRPr>
          </a:p>
          <a:p>
            <a:pPr lvl="0"/>
            <a:r>
              <a:rPr lang="en-IN" dirty="0"/>
              <a:t>The proposed solution is an </a:t>
            </a:r>
            <a:r>
              <a:rPr lang="en-IN" b="1" dirty="0"/>
              <a:t>AI-Powered Research Assistant Agent</a:t>
            </a:r>
            <a:r>
              <a:rPr lang="en-IN" dirty="0"/>
              <a:t> developed using </a:t>
            </a:r>
            <a:r>
              <a:rPr lang="en-IN" b="1" dirty="0" err="1"/>
              <a:t>LangFlow</a:t>
            </a:r>
            <a:r>
              <a:rPr lang="en-IN" b="1" dirty="0"/>
              <a:t>, IBM watsonx.ai, and IBM Granite Models</a:t>
            </a:r>
            <a:r>
              <a:rPr lang="en-IN" dirty="0"/>
              <a:t> to support researchers, academicians, and students throughout the research lifecycle. The system leverages </a:t>
            </a:r>
            <a:r>
              <a:rPr lang="en-IN" b="1" dirty="0"/>
              <a:t>Retrieval-Augmented Generation (RAG)</a:t>
            </a:r>
            <a:r>
              <a:rPr lang="en-IN" dirty="0"/>
              <a:t> to retrieve relevant information from research papers, journals, and academic databases, ensuring accurate and context-aware responses. It integrates multiple intelligent agents, including a </a:t>
            </a:r>
            <a:r>
              <a:rPr lang="en-IN" b="1" dirty="0"/>
              <a:t>Research Knowledge Agent</a:t>
            </a:r>
            <a:r>
              <a:rPr lang="en-IN" dirty="0"/>
              <a:t> for retrieving and summarizing scholarly content, a </a:t>
            </a:r>
            <a:r>
              <a:rPr lang="en-IN" b="1" dirty="0"/>
              <a:t>Literature Review Agent</a:t>
            </a:r>
            <a:r>
              <a:rPr lang="en-IN" dirty="0"/>
              <a:t> for identifying relevant studies and research gaps, a </a:t>
            </a:r>
            <a:r>
              <a:rPr lang="en-IN" b="1" dirty="0"/>
              <a:t>Research Advisory Agent</a:t>
            </a:r>
            <a:r>
              <a:rPr lang="en-IN" dirty="0"/>
              <a:t> for recommending methodologies and datasets, and a </a:t>
            </a:r>
            <a:r>
              <a:rPr lang="en-IN" b="1" dirty="0"/>
              <a:t>Document Analysis Agent</a:t>
            </a:r>
            <a:r>
              <a:rPr lang="en-IN" dirty="0"/>
              <a:t> for reviewing uploaded manuscripts and providing summaries and improvement suggestions. With an interactive dashboard for literature search, reference management, and progress tracking, the solution delivers an end-to-end intelligent research companion that enhances productivity, simplifies literature review, and supports informed research and publication decisions.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component Used -</a:t>
            </a:r>
            <a:endParaRPr sz="2400" b="1" i="0" u="none" strike="noStrike" cap="none" dirty="0">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474822" y="863187"/>
            <a:ext cx="8823960" cy="4401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r>
              <a:rPr lang="en-IN" b="1" dirty="0"/>
              <a:t>1) Chat Input</a:t>
            </a:r>
            <a:r>
              <a:rPr lang="en-IN" dirty="0"/>
              <a:t> – Interface where users enter their research queries, keywords, paper titles, or upload research documents for analysis.</a:t>
            </a:r>
          </a:p>
          <a:p>
            <a:r>
              <a:rPr lang="en-IN" b="1" dirty="0"/>
              <a:t>2) IBM </a:t>
            </a:r>
            <a:r>
              <a:rPr lang="en-IN" b="1" dirty="0" err="1"/>
              <a:t>watsonx</a:t>
            </a:r>
            <a:r>
              <a:rPr lang="en-IN" b="1" dirty="0"/>
              <a:t> AI Agent</a:t>
            </a:r>
            <a:r>
              <a:rPr lang="en-IN" dirty="0"/>
              <a:t> – Processes user queries using IBM Granite models to generate research insights, summarize literature, answer questions, and provide recommendations.</a:t>
            </a:r>
          </a:p>
          <a:p>
            <a:r>
              <a:rPr lang="en-IN" b="1" dirty="0"/>
              <a:t>3) IBM Granite Model</a:t>
            </a:r>
            <a:r>
              <a:rPr lang="en-IN" dirty="0"/>
              <a:t> – </a:t>
            </a:r>
            <a:r>
              <a:rPr lang="en-IN" b="1" dirty="0"/>
              <a:t>Granite-4.0-8B-Instruct</a:t>
            </a:r>
            <a:r>
              <a:rPr lang="en-IN" dirty="0"/>
              <a:t> → Used for research paper summarization, literature review, question answering, and content generation.</a:t>
            </a:r>
          </a:p>
          <a:p>
            <a:r>
              <a:rPr lang="en-IN" b="1" dirty="0"/>
              <a:t>4) Chat Output</a:t>
            </a:r>
            <a:r>
              <a:rPr lang="en-IN" dirty="0"/>
              <a:t> – Displays AI-generated responses such as research summaries, literature reviews, methodology suggestions, citation assistance, and research recommendations.</a:t>
            </a:r>
          </a:p>
          <a:p>
            <a:r>
              <a:rPr lang="en-IN" b="1" dirty="0"/>
              <a:t>5) File Component</a:t>
            </a:r>
            <a:r>
              <a:rPr lang="en-IN" dirty="0"/>
              <a:t> – Stores and retrieves research papers, PDFs, datasets, and academic documents for Retrieval-Augmented Generation (RAG) and document analysis.</a:t>
            </a:r>
          </a:p>
          <a:p>
            <a:r>
              <a:rPr lang="en-IN" b="1" dirty="0"/>
              <a:t>6) Astra DB / Vector Store (or Chroma DB if used)</a:t>
            </a:r>
            <a:r>
              <a:rPr lang="en-IN" dirty="0"/>
              <a:t> – Stores </a:t>
            </a:r>
            <a:r>
              <a:rPr lang="en-IN" dirty="0" err="1"/>
              <a:t>embeddings</a:t>
            </a:r>
            <a:r>
              <a:rPr lang="en-IN" dirty="0"/>
              <a:t> of research documents and enables semantic search for retrieving relevant information in the RAG pipeline.</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834" y="1209115"/>
            <a:ext cx="9735671" cy="50199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5366" y="924147"/>
            <a:ext cx="8317004" cy="55446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8" name="Google Shape;138;p9"/>
          <p:cNvSpPr txBox="1"/>
          <p:nvPr/>
        </p:nvSpPr>
        <p:spPr>
          <a:xfrm>
            <a:off x="621792" y="1167493"/>
            <a:ext cx="7406640" cy="37548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Role of Agentic AI in Research Agent</a:t>
            </a:r>
            <a:endParaRPr dirty="0"/>
          </a:p>
          <a:p>
            <a:pPr lvl="0"/>
            <a:r>
              <a:rPr lang="en-IN" dirty="0"/>
              <a:t>Agentic AI enables the Research Agent to function as an intelligent, autonomous research companion rather than a simple search tool. Using IBM watsonx.ai and IBM Granite models, it coordinates multiple specialized agents to deliver synthesized, real-time academic insights. Each agent performs a specific role — such as aggregating research papers from </a:t>
            </a:r>
            <a:r>
              <a:rPr lang="en-IN" dirty="0" err="1"/>
              <a:t>arXiv</a:t>
            </a:r>
            <a:r>
              <a:rPr lang="en-IN" dirty="0"/>
              <a:t> and PubMed, detecting citation gaps, predicting emerging trends, and generating structured literature reviews — while working collaboratively. This multi-agent approach ensures comprehensive knowledge coverage and accurate, grounded results. Agentic AI also brings context awareness, understanding the user's research domain, expertise level, and specific objectives to generate tailored summaries and recommendations. It supports real-time adaptation, continuously updating its knowledge base as new papers are published and new queries are submitted. Additionally, agents communicate with each other — the Source Fusion Agent feeds retrieved papers to the Citation Gap Detector, which then informs the Trend Prediction Agent — enabling smarter decision-making and richer research outputs. Overall, Agentic AI makes the system proactive, domain-aware, and insight-driven, acting like a smart digital research assistant that helps researchers, students, and professionals stay ahead of the knowledge curve and accelerate their academic work.</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44" name="Google Shape;144;p39"/>
          <p:cNvSpPr txBox="1"/>
          <p:nvPr/>
        </p:nvSpPr>
        <p:spPr>
          <a:xfrm>
            <a:off x="777240" y="1207008"/>
            <a:ext cx="10515600" cy="578615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err="1">
                <a:solidFill>
                  <a:srgbClr val="000000"/>
                </a:solidFill>
                <a:latin typeface="Arial"/>
                <a:ea typeface="Arial"/>
                <a:cs typeface="Arial"/>
                <a:sym typeface="Arial"/>
              </a:rPr>
              <a:t>Langflow</a:t>
            </a:r>
            <a:r>
              <a:rPr lang="en-US" sz="1800" b="1" i="0" u="none" strike="noStrike" cap="none" dirty="0">
                <a:solidFill>
                  <a:srgbClr val="000000"/>
                </a:solidFill>
                <a:latin typeface="Arial"/>
                <a:ea typeface="Arial"/>
                <a:cs typeface="Arial"/>
                <a:sym typeface="Arial"/>
              </a:rPr>
              <a:t> platform </a:t>
            </a:r>
            <a:r>
              <a:rPr lang="en-US" sz="1800" b="0" i="0" u="none" strike="noStrike" cap="none" dirty="0">
                <a:solidFill>
                  <a:srgbClr val="000000"/>
                </a:solidFill>
                <a:latin typeface="Arial"/>
                <a:ea typeface="Arial"/>
                <a:cs typeface="Arial"/>
                <a:sym typeface="Arial"/>
              </a:rPr>
              <a:t>-For designing and orchestrating multi-agent workflows visually</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a:t>
            </a:r>
            <a:r>
              <a:rPr lang="en-US" sz="1800" b="1" i="0" u="none" strike="noStrike" cap="none" dirty="0" err="1">
                <a:solidFill>
                  <a:srgbClr val="000000"/>
                </a:solidFill>
                <a:latin typeface="Arial"/>
                <a:ea typeface="Arial"/>
                <a:cs typeface="Arial"/>
                <a:sym typeface="Arial"/>
              </a:rPr>
              <a:t>Grainte</a:t>
            </a:r>
            <a:r>
              <a:rPr lang="en-US" sz="1800" b="1" i="0" u="none" strike="noStrike" cap="none" dirty="0">
                <a:solidFill>
                  <a:srgbClr val="000000"/>
                </a:solidFill>
                <a:latin typeface="Arial"/>
                <a:ea typeface="Arial"/>
                <a:cs typeface="Arial"/>
                <a:sym typeface="Arial"/>
              </a:rPr>
              <a:t> model </a:t>
            </a:r>
            <a:r>
              <a:rPr lang="en-US" sz="1800" b="0" i="0" u="none" strike="noStrike" cap="none" dirty="0">
                <a:solidFill>
                  <a:srgbClr val="000000"/>
                </a:solidFill>
                <a:latin typeface="Arial"/>
                <a:ea typeface="Arial"/>
                <a:cs typeface="Arial"/>
                <a:sym typeface="Arial"/>
              </a:rPr>
              <a:t>-  for </a:t>
            </a:r>
            <a:r>
              <a:rPr lang="en-US" sz="1800" b="0" i="0" u="none" strike="noStrike" cap="none" dirty="0" err="1">
                <a:solidFill>
                  <a:srgbClr val="000000"/>
                </a:solidFill>
                <a:latin typeface="Arial"/>
                <a:ea typeface="Arial"/>
                <a:cs typeface="Arial"/>
                <a:sym typeface="Arial"/>
              </a:rPr>
              <a:t>eg</a:t>
            </a:r>
            <a:r>
              <a:rPr lang="en-US" sz="1800" b="0" i="0" u="none" strike="noStrike" cap="none" dirty="0">
                <a:solidFill>
                  <a:srgbClr val="000000"/>
                </a:solidFill>
                <a:latin typeface="Arial"/>
                <a:ea typeface="Arial"/>
                <a:cs typeface="Arial"/>
                <a:sym typeface="Arial"/>
              </a:rPr>
              <a:t> – ibm-granite-3-2-8b – For natural language understanding, reasoning, and personalization</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US" sz="1800" b="1" i="0" u="none" strike="noStrike" cap="none" dirty="0">
                <a:solidFill>
                  <a:srgbClr val="000000"/>
                </a:solidFill>
                <a:latin typeface="Arial"/>
                <a:ea typeface="Arial"/>
                <a:cs typeface="Arial"/>
                <a:sym typeface="Arial"/>
              </a:rPr>
              <a:t>IBM Cloud </a:t>
            </a:r>
            <a:r>
              <a:rPr lang="en-US" sz="1800" b="0" i="0" u="none" strike="noStrike" cap="none" dirty="0">
                <a:solidFill>
                  <a:srgbClr val="000000"/>
                </a:solidFill>
                <a:latin typeface="Arial"/>
                <a:ea typeface="Arial"/>
                <a:cs typeface="Arial"/>
                <a:sym typeface="Arial"/>
              </a:rPr>
              <a:t>– </a:t>
            </a:r>
            <a:r>
              <a:rPr lang="en-IN" sz="1800" dirty="0"/>
              <a:t>It provides the infrastructure to build, deploy, and scale the Research Agent efficiently. IBM Cloud enables a reliable, secure, and scalable environment for deploying the Research Agent across academic and enterprise use cases.</a:t>
            </a:r>
          </a:p>
          <a:p>
            <a:pPr marL="285750" lvl="0" indent="-285750">
              <a:buSzPts val="1800"/>
              <a:buFont typeface="Arial"/>
              <a:buChar char="•"/>
            </a:pPr>
            <a:endParaRPr sz="1800"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US" sz="1800" b="1" i="0" u="none" strike="noStrike" cap="none" dirty="0">
                <a:solidFill>
                  <a:srgbClr val="000000"/>
                </a:solidFill>
                <a:latin typeface="Arial"/>
                <a:ea typeface="Arial"/>
                <a:cs typeface="Arial"/>
                <a:sym typeface="Arial"/>
              </a:rPr>
              <a:t>RAG– </a:t>
            </a:r>
            <a:r>
              <a:rPr lang="en-IN" sz="1800" dirty="0"/>
              <a:t>RAG to fetch real academic papers first, then generate intelligent research summaries, making the Research Agent more trustworthy, grounded, and citation-accurate.</a:t>
            </a:r>
          </a:p>
          <a:p>
            <a:pPr marL="285750" lvl="0" indent="-285750">
              <a:buSzPts val="1800"/>
              <a:buFont typeface="Arial"/>
              <a:buChar char="•"/>
            </a:pPr>
            <a:endParaRPr sz="1800"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US" sz="1800" b="1" i="0" u="none" strike="noStrike" cap="none" dirty="0">
                <a:solidFill>
                  <a:srgbClr val="000000"/>
                </a:solidFill>
                <a:latin typeface="Arial"/>
                <a:ea typeface="Arial"/>
                <a:cs typeface="Arial"/>
                <a:sym typeface="Arial"/>
              </a:rPr>
              <a:t>IBM Watsonx.ai - </a:t>
            </a:r>
            <a:r>
              <a:rPr lang="en-IN" sz="1800" dirty="0"/>
              <a:t>For model deployment, </a:t>
            </a:r>
            <a:r>
              <a:rPr lang="en-IN" sz="1800" dirty="0" err="1"/>
              <a:t>embeddings</a:t>
            </a:r>
            <a:r>
              <a:rPr lang="en-IN" sz="1800" dirty="0"/>
              <a:t> generation, vector store management, and AI governance ensuring transparent and auditable research outputs.</a:t>
            </a:r>
          </a:p>
          <a:p>
            <a:pPr marL="285750" lvl="0" indent="-285750">
              <a:buSzPts val="1800"/>
              <a:buFont typeface="Arial"/>
              <a:buChar char="•"/>
            </a:pPr>
            <a:endParaRPr sz="1800"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US" sz="1800" b="1" i="0" u="none" strike="noStrike" cap="none" dirty="0">
                <a:solidFill>
                  <a:srgbClr val="000000"/>
                </a:solidFill>
                <a:latin typeface="Arial"/>
                <a:ea typeface="Arial"/>
                <a:cs typeface="Arial"/>
                <a:sym typeface="Arial"/>
              </a:rPr>
              <a:t>Vector Database </a:t>
            </a:r>
            <a:r>
              <a:rPr lang="en-IN" sz="1800" dirty="0"/>
              <a:t>For RAG-based academic paper retrieval, storing paper </a:t>
            </a:r>
            <a:r>
              <a:rPr lang="en-IN" sz="1800" dirty="0" err="1"/>
              <a:t>embeddings</a:t>
            </a:r>
            <a:r>
              <a:rPr lang="en-IN" sz="1800" dirty="0"/>
              <a:t> for fast semantic search across </a:t>
            </a:r>
            <a:r>
              <a:rPr lang="en-IN" sz="1800" dirty="0" err="1"/>
              <a:t>arXiv</a:t>
            </a:r>
            <a:r>
              <a:rPr lang="en-IN" sz="1800" dirty="0"/>
              <a:t>, PubMed, and Semantic Scholar sources.</a:t>
            </a: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5" name="Google Shape;155;p40"/>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a:t>2104 token used.</a:t>
            </a: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rcRect t="4342"/>
          <a:stretch>
            <a:fillRect/>
          </a:stretch>
        </p:blipFill>
        <p:spPr>
          <a:xfrm>
            <a:off x="1218724" y="1746150"/>
            <a:ext cx="10058400" cy="47707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1"/>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61" name="Google Shape;161;p41"/>
          <p:cNvSpPr txBox="1"/>
          <p:nvPr/>
        </p:nvSpPr>
        <p:spPr>
          <a:xfrm>
            <a:off x="777240" y="1207008"/>
            <a:ext cx="11301984" cy="4247276"/>
          </a:xfrm>
          <a:prstGeom prst="rect">
            <a:avLst/>
          </a:prstGeom>
          <a:noFill/>
          <a:ln>
            <a:noFill/>
          </a:ln>
        </p:spPr>
        <p:txBody>
          <a:bodyPr spcFirstLastPara="1" wrap="square" lIns="91425" tIns="45700" rIns="91425" bIns="45700" anchor="t" anchorCtr="0">
            <a:spAutoFit/>
          </a:bodyPr>
          <a:lstStyle/>
          <a:p>
            <a:pPr lvl="0"/>
            <a:r>
              <a:rPr lang="en-IN" sz="1800" dirty="0"/>
              <a:t>Here's the Novelty and Uniqueness content for the Research Agent in the same </a:t>
            </a:r>
            <a:r>
              <a:rPr lang="en-IN" sz="1800" dirty="0" err="1"/>
              <a:t>format:The</a:t>
            </a:r>
            <a:r>
              <a:rPr lang="en-IN" sz="1800" dirty="0"/>
              <a:t> proposed Research Agent stands out by combining Agentic AI, RAG, and predictive intelligence into a single intelligent academic research </a:t>
            </a:r>
            <a:r>
              <a:rPr lang="en-IN" sz="1800" dirty="0" err="1"/>
              <a:t>companion.Multi</a:t>
            </a:r>
            <a:r>
              <a:rPr lang="en-IN" sz="1800" dirty="0"/>
              <a:t>-Agent Intelligence – Instead of a single search tool, multiple specialized agents collaborate to deliver accurate, synthesized, and context-aware research insights and literature </a:t>
            </a:r>
            <a:r>
              <a:rPr lang="en-IN" sz="1800" dirty="0" err="1"/>
              <a:t>reviews.RAG</a:t>
            </a:r>
            <a:r>
              <a:rPr lang="en-IN" sz="1800" dirty="0"/>
              <a:t>-Based Accuracy – Integrates real-time academic paper retrieval from </a:t>
            </a:r>
            <a:r>
              <a:rPr lang="en-IN" sz="1800" dirty="0" err="1"/>
              <a:t>arXiv</a:t>
            </a:r>
            <a:r>
              <a:rPr lang="en-IN" sz="1800" dirty="0"/>
              <a:t>, PubMed, and Semantic Scholar with AI generation, reducing hallucinations and ensuring trustworthy, citation-grounded </a:t>
            </a:r>
            <a:r>
              <a:rPr lang="en-IN" sz="1800" dirty="0" err="1"/>
              <a:t>outputs.Citation</a:t>
            </a:r>
            <a:r>
              <a:rPr lang="en-IN" sz="1800" dirty="0"/>
              <a:t> Gap Detection – Automatically identifies missing references and weak citation links in a research area, suggesting papers that strengthen and complete the academic </a:t>
            </a:r>
            <a:r>
              <a:rPr lang="en-IN" sz="1800" dirty="0" err="1"/>
              <a:t>argument.Predictive</a:t>
            </a:r>
            <a:r>
              <a:rPr lang="en-IN" sz="1800" dirty="0"/>
              <a:t> Trend Forecasting – Uses temporal citation velocity and topic momentum to predict emerging research directions, helping researchers stay ahead of the knowledge </a:t>
            </a:r>
            <a:r>
              <a:rPr lang="en-IN" sz="1800" dirty="0" err="1"/>
              <a:t>curve.Multi</a:t>
            </a:r>
            <a:r>
              <a:rPr lang="en-IN" sz="1800" dirty="0"/>
              <a:t>-Modal Research Input – Supports text queries, uploaded PDFs, chart images, and voice notes for flexible and seamless research </a:t>
            </a:r>
            <a:r>
              <a:rPr lang="en-IN" sz="1800" dirty="0" err="1"/>
              <a:t>workflows.Interactive</a:t>
            </a:r>
            <a:r>
              <a:rPr lang="en-IN" sz="1800" dirty="0"/>
              <a:t> Knowledge Visualization – Goes beyond text outputs to provide dynamic topic cluster maps, citation networks, and sentiment trend dashboards for deeper research </a:t>
            </a:r>
            <a:r>
              <a:rPr lang="en-IN" sz="1800" dirty="0" err="1"/>
              <a:t>insight.Scalable</a:t>
            </a:r>
            <a:r>
              <a:rPr lang="en-IN" sz="1800" dirty="0"/>
              <a:t> &amp; Enterprise-Ready – Built on IBM watsonx.ai with IBM Granite models, ensuring reliable, auditable, and governed AI outputs suitable for academic institutions and enterprises.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7" name="Google Shape;167;p42"/>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endParaRPr dirty="0"/>
          </a:p>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Please test and Paste the working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rPr>
              <a:t>–https://</a:t>
            </a:r>
            <a:r>
              <a:rPr lang="en-US" sz="1850" dirty="0" err="1">
                <a:solidFill>
                  <a:srgbClr val="2B3541"/>
                </a:solidFill>
                <a:latin typeface="Times New Roman"/>
                <a:ea typeface="Times New Roman"/>
                <a:cs typeface="Times New Roman"/>
                <a:sym typeface="Times New Roman"/>
              </a:rPr>
              <a:t>github.com</a:t>
            </a:r>
            <a:r>
              <a:rPr lang="en-US" sz="1850" dirty="0">
                <a:solidFill>
                  <a:srgbClr val="2B3541"/>
                </a:solidFill>
                <a:latin typeface="Times New Roman"/>
                <a:ea typeface="Times New Roman"/>
                <a:cs typeface="Times New Roman"/>
                <a:sym typeface="Times New Roman"/>
              </a:rPr>
              <a:t>/pRonak86/IBM_FDP_BVM</a:t>
            </a:r>
            <a:endParaRPr dirty="0"/>
          </a:p>
          <a:p>
            <a:pPr marL="0" marR="0" lvl="0" indent="0" algn="l" rtl="0">
              <a:lnSpc>
                <a:spcPct val="162162"/>
              </a:lnSpc>
              <a:spcBef>
                <a:spcPts val="0"/>
              </a:spcBef>
              <a:spcAft>
                <a:spcPts val="0"/>
              </a:spcAft>
              <a:buNone/>
            </a:pPr>
            <a:r>
              <a:rPr lang="en-US" sz="1850" b="1" i="0" u="none" strike="noStrike" cap="none" dirty="0">
                <a:solidFill>
                  <a:srgbClr val="2B3541"/>
                </a:solidFill>
                <a:latin typeface="Times New Roman"/>
                <a:ea typeface="Times New Roman"/>
                <a:cs typeface="Times New Roman"/>
                <a:sym typeface="Times New Roman"/>
              </a:rPr>
              <a:t>Make sure you have Uploaded following three files into your </a:t>
            </a:r>
            <a:r>
              <a:rPr lang="en-US" sz="1850" b="1" i="0" u="none" strike="noStrike" cap="none" dirty="0" err="1">
                <a:solidFill>
                  <a:srgbClr val="2B3541"/>
                </a:solidFill>
                <a:latin typeface="Times New Roman"/>
                <a:ea typeface="Times New Roman"/>
                <a:cs typeface="Times New Roman"/>
                <a:sym typeface="Times New Roman"/>
              </a:rPr>
              <a:t>github</a:t>
            </a:r>
            <a:r>
              <a:rPr lang="en-US" sz="1850" b="1" i="0" u="none" strike="noStrike" cap="none" dirty="0">
                <a:solidFill>
                  <a:srgbClr val="2B3541"/>
                </a:solidFill>
                <a:latin typeface="Times New Roman"/>
                <a:ea typeface="Times New Roman"/>
                <a:cs typeface="Times New Roman"/>
                <a:sym typeface="Times New Roman"/>
              </a:rPr>
              <a:t> repository  </a:t>
            </a:r>
            <a:br>
              <a:rPr lang="en-US" sz="1850" b="0" i="0" u="none" strike="noStrike" cap="none" dirty="0">
                <a:solidFill>
                  <a:srgbClr val="2B3541"/>
                </a:solidFill>
                <a:latin typeface="Times New Roman"/>
                <a:ea typeface="Times New Roman"/>
                <a:cs typeface="Times New Roman"/>
                <a:sym typeface="Times New Roman"/>
              </a:rPr>
            </a:br>
            <a:r>
              <a:rPr lang="en-US" sz="1850" b="0" i="0" u="none" strike="noStrike" cap="none" dirty="0">
                <a:solidFill>
                  <a:srgbClr val="2B3541"/>
                </a:solidFill>
                <a:latin typeface="Times New Roman"/>
                <a:ea typeface="Times New Roman"/>
                <a:cs typeface="Times New Roman"/>
                <a:sym typeface="Times New Roman"/>
              </a:rPr>
              <a:t>1) </a:t>
            </a:r>
            <a:r>
              <a:rPr lang="en-US" sz="1850" b="0" i="0" u="none" strike="noStrike" cap="none" dirty="0" err="1">
                <a:solidFill>
                  <a:srgbClr val="2B3541"/>
                </a:solidFill>
                <a:latin typeface="Times New Roman"/>
                <a:ea typeface="Times New Roman"/>
                <a:cs typeface="Times New Roman"/>
                <a:sym typeface="Times New Roman"/>
              </a:rPr>
              <a:t>app.json</a:t>
            </a:r>
            <a:r>
              <a:rPr lang="en-US" sz="1850" b="0" i="0" u="none" strike="noStrike" cap="none" dirty="0">
                <a:solidFill>
                  <a:srgbClr val="2B3541"/>
                </a:solidFill>
                <a:latin typeface="Times New Roman"/>
                <a:ea typeface="Times New Roman"/>
                <a:cs typeface="Times New Roman"/>
                <a:sym typeface="Times New Roman"/>
              </a:rPr>
              <a:t> file , 2) yourproblemstatement.pdf file  3) your projectpresntation.pptx file</a:t>
            </a:r>
            <a:endParaRPr sz="1850" b="0" i="0" u="none" strike="noStrike" cap="none" dirty="0">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9" name="Google Shape;169;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Rectangle 1"/>
          <p:cNvSpPr/>
          <p:nvPr/>
        </p:nvSpPr>
        <p:spPr>
          <a:xfrm>
            <a:off x="921761" y="1367764"/>
            <a:ext cx="9889674" cy="2893100"/>
          </a:xfrm>
          <a:prstGeom prst="rect">
            <a:avLst/>
          </a:prstGeom>
        </p:spPr>
        <p:txBody>
          <a:bodyPr wrap="square">
            <a:spAutoFit/>
          </a:bodyPr>
          <a:lstStyle/>
          <a:p>
            <a:r>
              <a:rPr lang="en-IN" b="1" dirty="0"/>
              <a:t>1. Collaborative Multi-User Research Workspace –</a:t>
            </a:r>
            <a:r>
              <a:rPr lang="en-IN" dirty="0"/>
              <a:t> The Research Agent can be extended to support real-time collaboration among multiple researchers, allowing teams to share agent sessions, co-annotate papers, and merge literature reviews simultaneously — similar to Google Docs but powered by Agentic AI for academic research.</a:t>
            </a:r>
          </a:p>
          <a:p>
            <a:r>
              <a:rPr lang="en-IN" b="1" dirty="0"/>
              <a:t>2. Voice-Enabled Research Assistant &amp; Multilingual Support –</a:t>
            </a:r>
            <a:r>
              <a:rPr lang="en-IN" dirty="0"/>
              <a:t> Enhancing the system with a voice-enabled interface and support for multiple languages such as Hindi, Spanish, and Mandarin will improve accessibility. Researchers can interact naturally in their preferred language, making the solution more inclusive and suitable for global academic communities.</a:t>
            </a:r>
          </a:p>
          <a:p>
            <a:r>
              <a:rPr lang="en-IN" b="1" dirty="0"/>
              <a:t>3. Automated Research Paper Drafting –</a:t>
            </a:r>
            <a:r>
              <a:rPr lang="en-IN" dirty="0"/>
              <a:t> The agent can be extended to not just review but autonomously draft entire research paper sections — including introduction, literature review, and methodology — grounded in retrieved sources with proper citation formatting (APA, MLA, IEEE) generated automatically.</a:t>
            </a:r>
          </a:p>
          <a:p>
            <a:r>
              <a:rPr lang="en-IN" b="1" dirty="0"/>
              <a:t>4. Integration with Reference Managers (</a:t>
            </a:r>
            <a:r>
              <a:rPr lang="en-IN" b="1" dirty="0" err="1"/>
              <a:t>Zotero</a:t>
            </a:r>
            <a:r>
              <a:rPr lang="en-IN" b="1" dirty="0"/>
              <a:t> / </a:t>
            </a:r>
            <a:r>
              <a:rPr lang="en-IN" b="1" dirty="0" err="1"/>
              <a:t>Mendeley</a:t>
            </a:r>
            <a:r>
              <a:rPr lang="en-IN" b="1" dirty="0"/>
              <a:t>) –</a:t>
            </a:r>
            <a:r>
              <a:rPr lang="en-IN" dirty="0"/>
              <a:t> Seamlessly syncing with popular reference management tools will allow the agent to auto-populate citation libraries, push newly discovered papers directly into researchers' existing workflows, and eliminate manual bibliography management entirely.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1582</Words>
  <Application>Microsoft Macintosh PowerPoint</Application>
  <PresentationFormat>Widescreen</PresentationFormat>
  <Paragraphs>102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 </dc:title>
  <dc:creator>Manda Anirudh</dc:creator>
  <cp:lastModifiedBy>Ronak Patel</cp:lastModifiedBy>
  <cp:revision>15</cp:revision>
  <dcterms:created xsi:type="dcterms:W3CDTF">2025-07-08T05:06:56Z</dcterms:created>
  <dcterms:modified xsi:type="dcterms:W3CDTF">2026-06-17T13:00:40Z</dcterms:modified>
</cp:coreProperties>
</file>